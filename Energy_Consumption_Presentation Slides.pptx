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>
                <a:solidFill>
                  <a:srgbClr val="F8FBFD"/>
                </a:solidFill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(kWh)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Lagos</c:v>
                </c:pt>
                <c:pt idx="1">
                  <c:v>Abuja</c:v>
                </c:pt>
                <c:pt idx="2">
                  <c:v>Ibadan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9760</c:v>
                </c:pt>
                <c:pt idx="1">
                  <c:v>8090</c:v>
                </c:pt>
                <c:pt idx="2">
                  <c:v>6390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>
                <a:solidFill>
                  <a:srgbClr val="F8FBFD"/>
                </a:solidFill>
              </a:defRPr>
            </a:pP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(kWh)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Industrial</c:v>
                </c:pt>
                <c:pt idx="1">
                  <c:v>Hospital</c:v>
                </c:pt>
                <c:pt idx="2">
                  <c:v>SME</c:v>
                </c:pt>
                <c:pt idx="3">
                  <c:v>Agricultural</c:v>
                </c:pt>
                <c:pt idx="4">
                  <c:v>School</c:v>
                </c:pt>
                <c:pt idx="5">
                  <c:v>Residential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9600</c:v>
                </c:pt>
                <c:pt idx="1">
                  <c:v>4150</c:v>
                </c:pt>
                <c:pt idx="2">
                  <c:v>4050</c:v>
                </c:pt>
                <c:pt idx="3">
                  <c:v>3580</c:v>
                </c:pt>
                <c:pt idx="4">
                  <c:v>1640</c:v>
                </c:pt>
                <c:pt idx="5">
                  <c:v>1220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>
                <a:solidFill>
                  <a:srgbClr val="F8FBFD"/>
                </a:solidFill>
              </a:defRPr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(kWh)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2580</c:v>
                </c:pt>
                <c:pt idx="1">
                  <c:v>1940</c:v>
                </c:pt>
                <c:pt idx="2">
                  <c:v>6050</c:v>
                </c:pt>
                <c:pt idx="3">
                  <c:v>2200</c:v>
                </c:pt>
                <c:pt idx="4">
                  <c:v>3750</c:v>
                </c:pt>
                <c:pt idx="5">
                  <c:v>7720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BFD"/>
                </a:solidFill>
                <a:latin typeface="Aptos"/>
              </a:rPr>
              <a:t>ELECTRICITY CONSUMPTION
ANALYSIS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3D2E0"/>
                </a:solidFill>
                <a:latin typeface="Aptos"/>
              </a:rPr>
              <a:t>Python Study Group • SmartBixCrux Technologies •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015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BFD"/>
                </a:solidFill>
                <a:latin typeface="Aptos"/>
              </a:rPr>
              <a:t>TEAM MEMBERS
Gomes Vivian  •  Oseni Latifat  •  AMINU ISMAILA Ainoko  •  Ositadinma Chigozie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4C7D6"/>
                </a:solidFill>
                <a:latin typeface="Aptos"/>
              </a:rPr>
              <a:t>A practical Python-based system for organizing, validating and analyzing simulated electricity consumption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5257800"/>
            <a:ext cx="201168" cy="82296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00032" y="5029200"/>
            <a:ext cx="201168" cy="1051560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38944" y="5257800"/>
            <a:ext cx="201168" cy="128016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77856" y="5029200"/>
            <a:ext cx="201168" cy="822960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16768" y="5257800"/>
            <a:ext cx="201168" cy="105156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Why electricity consumption data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BFD"/>
                </a:solidFill>
                <a:latin typeface="Aptos"/>
              </a:defRPr>
            </a:pPr>
            <a:r>
              <a:t>• Electricity access and reliable supply remain important development challenges.</a:t>
            </a:r>
          </a:p>
          <a:p>
            <a:pPr>
              <a:spcAft>
                <a:spcPts val="900"/>
              </a:spcAft>
              <a:defRPr sz="1700">
                <a:solidFill>
                  <a:srgbClr val="F8FBFD"/>
                </a:solidFill>
                <a:latin typeface="Aptos"/>
              </a:defRPr>
            </a:pPr>
            <a:r>
              <a:t>• Access to electricity is different from how much electricity customers actually consume.</a:t>
            </a:r>
          </a:p>
          <a:p>
            <a:pPr>
              <a:spcAft>
                <a:spcPts val="900"/>
              </a:spcAft>
              <a:defRPr sz="1700">
                <a:solidFill>
                  <a:srgbClr val="F8FBFD"/>
                </a:solidFill>
                <a:latin typeface="Aptos"/>
              </a:defRPr>
            </a:pPr>
            <a:r>
              <a:t>• This project demonstrates how structured consumption records can be transformed into useful information with Python.</a:t>
            </a:r>
          </a:p>
          <a:p>
            <a:pPr>
              <a:spcAft>
                <a:spcPts val="900"/>
              </a:spcAft>
              <a:defRPr sz="1700">
                <a:solidFill>
                  <a:srgbClr val="F8FBFD"/>
                </a:solidFill>
                <a:latin typeface="Aptos"/>
              </a:defRPr>
            </a:pPr>
            <a:r>
              <a:t>• The dataset is simulated and instructional; it is not official Nigerian utility or NERC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566160" cy="141732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545336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89280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20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487168"/>
            <a:ext cx="3236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Customer activity across Lagos, Abuja and Ibadan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063240"/>
            <a:ext cx="3566160" cy="141732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3191256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3872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Jan–Jun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133087"/>
            <a:ext cx="3236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One record per customer in the project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709160"/>
            <a:ext cx="3566160" cy="12344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3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4837176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5184648"/>
            <a:ext cx="32369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779008"/>
            <a:ext cx="323697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Lists • dictionaries • functions •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2. Problem Statement &amp; 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4805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08176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50008"/>
            <a:ext cx="488289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Raw electricity records can be difficult to interpret without structured validation, calculations and grouping. Decision-makers need clear summaries of consumption, cost, location, customer type and customers requiring attention.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4805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08176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THE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50008"/>
            <a:ext cx="488289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Build a Python-based analytical system that organizes records, validates inputs, calculates key electricity metrics, classifies consumption, compares locations and customer types, identifies high-attention customers, and provides an interactive menu.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3.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Structure electricity records using Python lists and dictionaries.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Validate customer, consumption, tariff, renewable-share and outage values.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Calculate total, average, maximum and minimum consumption and cost.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Analyze consumption by location, customer type and month.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Classify customers as Low, Medium or High consumption.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Identify high-attention customers using consumption and renewable-share criteria.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Provide an interactive menu-driven system and foundation for future Pandas/visualization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4. Dataset &amp;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Simulated instructional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Customer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25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Customer 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Customer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25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287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596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2468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1" y="2596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Consumption (kWh)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468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2596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Tariff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2596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Peak Consumption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739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Renewable Share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39" y="3611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1" y="3739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Outage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611880"/>
            <a:ext cx="2514600" cy="841248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1" y="373989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Payment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Customer types: Residential • SME • Industrial • Hospital • School • Agricultural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C7D6"/>
                </a:solidFill>
                <a:latin typeface="Aptos"/>
              </a:rPr>
              <a:t>Locations: Lagos • Abuja • Ibadan  |  Months: January–June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5. Methodology &amp; Python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20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21992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Check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9624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3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Calculate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1063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Metrics &amp;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77256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Groups &amp;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888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Low / Medium / 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Flag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High attention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60152" y="2057400"/>
            <a:ext cx="1325880" cy="1874519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51592" y="222199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3D2E0"/>
                </a:solidFill>
                <a:latin typeface="Apto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1592" y="260604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Menu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2" y="306324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C7D6"/>
                </a:solidFill>
                <a:latin typeface="Aptos"/>
              </a:rPr>
              <a:t>Interactive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4C7D6"/>
                </a:solidFill>
                <a:latin typeface="Aptos"/>
              </a:rPr>
              <a:t>Core Python concepts: variables • lists • dictionaries • indexing • if/elif/else • for/while loops • functions • parameters • returns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6. 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Headline figures from the 20-record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514600" cy="15087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TOTAL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24,240 kWh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514600" cy="15087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AVERAGE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801368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1,212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514600" cy="15087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3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TOTAL ELECTRICITY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801368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₦2.92M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325880"/>
            <a:ext cx="2514600" cy="15087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453895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AVERAGE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1801368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₦146,000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3429000"/>
            <a:ext cx="3931920" cy="155448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3557016"/>
            <a:ext cx="3602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HIGHEST CONSUMER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3904487"/>
            <a:ext cx="36027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Industrial Works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4498848"/>
            <a:ext cx="36027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3,600 kWh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29000"/>
            <a:ext cx="3931920" cy="155448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557016"/>
            <a:ext cx="3602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LOWEST 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904487"/>
            <a:ext cx="36027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Hope Residence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498848"/>
            <a:ext cx="360273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190 kWh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4C7D6"/>
                </a:solidFill>
                <a:latin typeface="Aptos"/>
              </a:rPr>
              <a:t>Cost is based on consumption × tariff in the project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7. Location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Total consumption by location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280160"/>
          <a:ext cx="68580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554480"/>
            <a:ext cx="3108960" cy="12344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5592" y="1682495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HIGHEST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5592" y="2029967"/>
            <a:ext cx="2779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Lagos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2624328"/>
            <a:ext cx="277977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9,760 kWh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063240"/>
            <a:ext cx="3108960" cy="12344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3191256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3538728"/>
            <a:ext cx="2779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Abuja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4133087"/>
            <a:ext cx="277977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8,090 kWh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572000"/>
            <a:ext cx="3108960" cy="12344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3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4700016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THIRD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5047488"/>
            <a:ext cx="2779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Ibadan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641848"/>
            <a:ext cx="2779776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6,390 kWh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8. Customer Type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Industrial customers dominate total consumption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234440"/>
          <a:ext cx="7132320" cy="4983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600200"/>
            <a:ext cx="2971800" cy="182880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7031" y="1728216"/>
            <a:ext cx="2642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075688"/>
            <a:ext cx="2642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9,600 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2670048"/>
            <a:ext cx="2642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Industrial consumption is about 40% of the dataset total, despite only 3 industrial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49039"/>
            <a:ext cx="2971800" cy="160020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3877055"/>
            <a:ext cx="2642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TOP 3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4224527"/>
            <a:ext cx="26426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Industrial • Hospital • SME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4818888"/>
            <a:ext cx="264261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Together they account for the largest share.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9. Monthly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C7D6"/>
                </a:solidFill>
                <a:latin typeface="Aptos"/>
              </a:rPr>
              <a:t>Monthly totals fluctuate across the six recorded months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600200"/>
            <a:ext cx="2834640" cy="14630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72821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HIGHEST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075688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670048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7,720 kWh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29000"/>
            <a:ext cx="2834640" cy="146304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3557016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LOWEST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904487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February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498848"/>
            <a:ext cx="2505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1,940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21208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Important: each customer appears only once, so these monthly totals should not be treated as individual seasonal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10. Consumption Classification &amp; Attention 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41732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3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3008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&lt; 500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Lower consumption band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01368"/>
            <a:ext cx="3008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500–999 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95728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Middle consumption band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337560" cy="141732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01368"/>
            <a:ext cx="30083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≥ 1,000 kWh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395728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Higher consumption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3D2E0"/>
                </a:solidFill>
                <a:latin typeface="Aptos"/>
              </a:rPr>
              <a:t>HIGH-ATTENTION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94760"/>
            <a:ext cx="1965960" cy="1234440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50791"/>
            <a:ext cx="1819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Consumption
≥ 1,000 kWh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94760"/>
            <a:ext cx="914400" cy="1234440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5112" y="4050791"/>
            <a:ext cx="76809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94760"/>
            <a:ext cx="1965960" cy="1234440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6712" y="4050791"/>
            <a:ext cx="1819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Renewable share
&lt; 15%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794760"/>
            <a:ext cx="1965960" cy="1234440"/>
          </a:xfrm>
          <a:prstGeom prst="roundRect">
            <a:avLst/>
          </a:prstGeom>
          <a:solidFill>
            <a:srgbClr val="0E2B48"/>
          </a:solidFill>
          <a:ln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4272" y="4050791"/>
            <a:ext cx="18196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B4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BFD"/>
                </a:solidFill>
                <a:latin typeface="Aptos"/>
              </a:rPr>
              <a:t>4 customers flagged: Prime Plastics • Lakeside Hotel • Naija Foods Ltd • Industrial Works Ltd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11.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Industrial customers account for 9,600 kWh — nearly 40% of total recorded consumption.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Four customers meet the high-attention rule; all are Industrial or SME customers.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Lagos has the highest location total at 9,760 kWh, but demand is distributed across all three locations.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Nine of the 20 records fall into the High consumption category (≥1,000 kWh).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Monthly consumption fluctuates substantially, but the dataset is not designed to establish individual seasonal patterns.</a:t>
            </a:r>
          </a:p>
          <a:p>
            <a:pPr>
              <a:spcAft>
                <a:spcPts val="900"/>
              </a:spcAft>
              <a:defRPr sz="1500">
                <a:solidFill>
                  <a:srgbClr val="F8FBFD"/>
                </a:solidFill>
                <a:latin typeface="Aptos"/>
              </a:defRPr>
            </a:pPr>
            <a:r>
              <a:t>• Large consumption and high-attention status are not the same: the attention rule also considers renewable share.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12. Recommendations &amp; Future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9659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62456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IMMEDIATE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4974336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• Promote energy-efficiency practices for large consumers.
• Prioritize the four flagged customers for efficiency and renewable-energy assessment.
• Investigate low renewable shares among major industrial consumers.
• Expand cost analysis by location and customer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03520" cy="19659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362456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DATA &amp; MODEL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304288"/>
            <a:ext cx="4974336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• Use a larger dataset covering more customers and longer periods.
• Add more operational and financial variables.
• Refine the attention rule using real utility criteria.
• Add deeper outage, payment and cost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10789920" cy="160020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32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785615"/>
            <a:ext cx="10460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TECHNICAL 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727448"/>
            <a:ext cx="10460736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Move from basic Python structures toward Pandas, richer visualizations and dashboard-ready analysis while preserving validation and clear business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8FBFD"/>
                </a:solidFill>
                <a:latin typeface="Aptos"/>
              </a:rPr>
              <a:t>13. Limitations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35661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F5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6245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4837176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• Only 20 simulated records.
• Not official utility/NERC data.
• One record per customer across six months limits seasonal interpretation.
• Fixed attention rule has not been validated against real utility criteria.
• Cost, payment and outage fields are captured but not deeply analyzed.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166360" cy="3566160"/>
          </a:xfrm>
          <a:prstGeom prst="roundRect">
            <a:avLst/>
          </a:prstGeom>
          <a:solidFill>
            <a:srgbClr val="0E2B48"/>
          </a:solidFill>
          <a:ln w="15240">
            <a:solidFill>
              <a:srgbClr val="0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362456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7D6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304288"/>
            <a:ext cx="4837176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7D6"/>
                </a:solidFill>
                <a:latin typeface="Aptos"/>
              </a:rPr>
              <a:t>The system demonstrates how Python can organize, validate and analyze structured electricity-consumption data. It produces useful summaries, comparisons and flags while providing a practical foundation for larger datasets, Pandas-based workflows and future visualization.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3D2E0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4C7D6"/>
                </a:solidFill>
                <a:latin typeface="Aptos"/>
              </a:rPr>
              <a:t>Gomes Vivian  •  Oseni Latifat  •  AMINU ISMAILA Ainoko  •  Ositadinma Chigozie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64008"/>
          </a:xfrm>
          <a:prstGeom prst="rect">
            <a:avLst/>
          </a:prstGeom>
          <a:solidFill>
            <a:srgbClr val="43D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8FBFD"/>
                </a:solidFill>
                <a:latin typeface="Aptos"/>
              </a:rP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43D2E0"/>
                </a:solidFill>
                <a:latin typeface="Aptos"/>
              </a:rPr>
              <a:t>SmartBixCrux Technologies • Python Study Group •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2331720"/>
            <a:ext cx="8046720" cy="530352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2414015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BFD"/>
                </a:solidFill>
                <a:latin typeface="Aptos"/>
              </a:rPr>
              <a:t>Gomes Vivian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3108960"/>
            <a:ext cx="8046720" cy="530352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191256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BFD"/>
                </a:solidFill>
                <a:latin typeface="Aptos"/>
              </a:rPr>
              <a:t>Oseni Latifat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3886200"/>
            <a:ext cx="8046720" cy="530352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3968496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BFD"/>
                </a:solidFill>
                <a:latin typeface="Aptos"/>
              </a:rPr>
              <a:t>AMINU ISMAILA Ainoko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4663440"/>
            <a:ext cx="8046720" cy="530352"/>
          </a:xfrm>
          <a:prstGeom prst="roundRect">
            <a:avLst/>
          </a:prstGeom>
          <a:solidFill>
            <a:srgbClr val="0E2B48"/>
          </a:solidFill>
          <a:ln>
            <a:solidFill>
              <a:srgbClr val="43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4745736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8FBFD"/>
                </a:solidFill>
                <a:latin typeface="Aptos"/>
              </a:rPr>
              <a:t>Ositadinma Chigozie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